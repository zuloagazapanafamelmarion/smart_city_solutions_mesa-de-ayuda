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7A7A"/>
                </a:solidFill>
                <a:latin typeface="Calibri"/>
              </a:rPr>
              <a:t>SMARTCITY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Sistema de Mesa de Ayuda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E8A317"/>
                </a:solidFill>
                <a:latin typeface="Calibri"/>
              </a:rPr>
              <a:t>Help Desk · Diseño de Patrones · Proyecto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Java 17  ·  Maven  ·  Swing + Consola  ·  Persistencia JSON</a:t>
            </a:r>
          </a:p>
          <a:p>
            <a:r>
              <a:rPr sz="1600" b="0">
                <a:solidFill>
                  <a:srgbClr val="FFFFFF"/>
                </a:solidFill>
                <a:latin typeface="Calibri"/>
              </a:rPr>
              <a:t>Patrones GOF · SOLID · GRASP · MVC</a:t>
            </a:r>
          </a:p>
          <a:p>
            <a:r>
              <a:rPr sz="1400" b="0">
                <a:solidFill>
                  <a:srgbClr val="1A7A7A"/>
                </a:solidFill>
                <a:latin typeface="Calibri"/>
              </a:rPr>
              <a:t>Video: https://www.youtube.com/watch?v=X0vSXpbGX94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Calibri"/>
              </a:rPr>
              <a:t>•  Problema y contexto SmartCity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Calibri"/>
              </a:rPr>
              <a:t>•  Objetivos del proyecto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Calibri"/>
              </a:rPr>
              <a:t>•  Arquitectura MVC y paquetes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Calibri"/>
              </a:rPr>
              <a:t>•  Diagramas UML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Calibri"/>
              </a:rPr>
              <a:t>•  Patrones GOF (6) — qué, por qué y dónde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Calibri"/>
              </a:rPr>
              <a:t>•  Principios SOLID y GRASP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Calibri"/>
              </a:rPr>
              <a:t>•  Funcionalidades y demo (Swing)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Calibri"/>
              </a:rPr>
              <a:t>•  Retos adicionales: Swing + JSON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Calibri"/>
              </a:rPr>
              <a:t>•  Cumplimiento de la rúbrica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C1C1C"/>
                </a:solidFill>
                <a:latin typeface="Calibri"/>
              </a:rPr>
              <a:t>•  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Problema y contexto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8A317"/>
                </a:solidFill>
                <a:latin typeface="Calibri"/>
              </a:rPr>
              <a:t>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Las ciudades inteligentes generan reportes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de fallas, consultas y mejoras.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Sin un sistema ordenado: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• Los reportes se pierden en correos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• No hay roles ni permisos claros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• No hay ciclo de vida del ticket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• No queda historial / auditoría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Nuestra solución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Help Desk SmartCity Solutions: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• Login con roles (Admin / Técnico / Cliente)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• CRUD de tickets tipificados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• Asignación de técnico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• Estados: NUEVO → EN_PROCESO → RESUELTO → CERRADO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• Notificaciones e historial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• Interfaz Swing + consola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• Persistencia en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Objetivo general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Diseñar e implementar una aplicación OO en Java aplicando patrones de diseño,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principios SOLID y GRASP mediante una arquitectura modular, reutilizable y mantenible.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•  Modelar el dominio Help Desk con herencia, polimorfismo e interfaces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•  Implementar mínimo 6 patrones GOF (2 creacionales, 2 estructurales, 2 de comportamiento)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•  Evidenciar los 5 principios SOLID y los patrones GRASP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•  Ofrecer menú / GUI funcional con CRUD, validaciones y flujos de negocio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•  Documentar y sustentar cada decisión de diseño con evidencia en código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Arquitectura MVC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76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Vista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2918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VentanaLogin / VentanaPrincipal (Swing)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MenuPrincipal (consola)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Solo interactúa con el usuario.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No contiene lógica de negocio.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6576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258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8A317"/>
                </a:solidFill>
                <a:latin typeface="Calibri"/>
              </a:rPr>
              <a:t>Controlador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691640"/>
            <a:ext cx="32918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TicketService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HelpDeskFacade (puerta de entrada)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TicketServiceProxy (permisos)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Orquesta flujos y validaciones.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6576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258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691640"/>
            <a:ext cx="329184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Usuario y subtipos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Ticket y subtipos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Estados / Observadores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Entidades del dominio.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2C4A"/>
                </a:solidFill>
                <a:latin typeface="Calibri"/>
              </a:rPr>
              <a:t>Cadena de llamadas en cada acción:</a:t>
            </a:r>
          </a:p>
          <a:p>
            <a:r>
              <a:rPr sz="1500" b="0">
                <a:solidFill>
                  <a:srgbClr val="1C1C1C"/>
                </a:solidFill>
                <a:latin typeface="Calibri"/>
              </a:rPr>
              <a:t>Vista → HelpDeskFacade → TicketServiceProxy → TicketService → RepositorioDatos → Ticket / Estado / Observadores → JSON</a:t>
            </a:r>
          </a:p>
          <a:p>
            <a:r>
              <a:rPr sz="1500" b="0">
                <a:solidFill>
                  <a:srgbClr val="1A7A7A"/>
                </a:solidFill>
                <a:latin typeface="Calibri"/>
              </a:rPr>
              <a:t>Regla de oro: la vista NO habla directo con la lógica. Solo conoce el Facade → bajo acoplamiento.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Organización por paquetes</a:t>
            </a:r>
          </a:p>
        </p:txBody>
      </p:sp>
      <p:pic>
        <p:nvPicPr>
          <p:cNvPr id="6" name="Picture 5" descr="05-paquetes-sist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640802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C1C1C"/>
                </a:solidFill>
                <a:latin typeface="Calibri"/>
              </a:rPr>
              <a:t>•  Cada patrón tiene su paquete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C1C1C"/>
                </a:solidFill>
                <a:latin typeface="Calibri"/>
              </a:rPr>
              <a:t>•  modelo / vista / controlador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C1C1C"/>
                </a:solidFill>
                <a:latin typeface="Calibri"/>
              </a:rPr>
              <a:t>•  interfaces para DIP e ISP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C1C1C"/>
                </a:solidFill>
                <a:latin typeface="Calibri"/>
              </a:rPr>
              <a:t>•  util: Validador + RepositorioDatos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C1C1C"/>
                </a:solidFill>
                <a:latin typeface="Calibri"/>
              </a:rPr>
              <a:t>•  Arquitectura modular y escalable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UML — Arquitectura + Patrones</a:t>
            </a:r>
          </a:p>
        </p:txBody>
      </p:sp>
      <p:pic>
        <p:nvPicPr>
          <p:cNvPr id="6" name="Picture 5" descr="01-diagrama-clases-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868945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UML — Modelo de dominio (Herencia + Polimorfismo)</a:t>
            </a:r>
          </a:p>
        </p:txBody>
      </p:sp>
      <p:pic>
        <p:nvPicPr>
          <p:cNvPr id="6" name="Picture 5" descr="02-modelo-dominio-her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6003566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6 Patrones GOF implementados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Singleton  (Creacional)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Dónde: SesionUsuario / SistemaConfig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Para: Una sola sesión y configuración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657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258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Factory  (Creacional)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6916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Dónde: TicketFactory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Para: Crear INCIDENTE / CONSULTA / MEJORA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657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258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Facade  (Estructural)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6916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Dónde: HelpDeskFacade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Para: API simple para la vista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3657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94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Proxy  (Estructural)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Dónde: TicketServiceProxy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Para: Permisos por rol sin tocar el servicio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657600"/>
            <a:ext cx="3657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794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8A317"/>
                </a:solidFill>
                <a:latin typeface="Calibri"/>
              </a:rPr>
              <a:t>State  (Comportamiento)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1605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Dónde: EstadoNuevo … EstadoCerrado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Para: Ciclo de vida del ticket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657600"/>
            <a:ext cx="36576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794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8A317"/>
                </a:solidFill>
                <a:latin typeface="Calibri"/>
              </a:rPr>
              <a:t>Observer  (Comportamiento)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1605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Dónde: Ticket + Historial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Para: Notificaciones automáticas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Creacionales: Singleton y Factory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Singleton — ¿por qué?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Problema: se necesita UNA sesión 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UNA configuración globales.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Solución: getInstancia() + constructor privado.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Evidencia en demo: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• Login → SesionUsuario guarda al usuario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• SistemaConfig → nombre, versión, debug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Rúbrica: login con roles + GOF creacional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8A317"/>
                </a:solidFill>
                <a:latin typeface="Calibri"/>
              </a:rPr>
              <a:t>Factory — ¿por qué?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Problema: 3 tipos de ticket con datos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distintos (sistema / categoría / beneficio).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Solución: TicketFactory.crear(tipo, …)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La vista NO hace new IncidenteTicket().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Beneficio: OCP — agregar un tipo nuevo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sin tocar el menú ni el controlador.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Rúbrica: registro tipificado + OCP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Estructurales: Facade y Proxy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Facade — ¿por qué?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Problema: la vista tendría que conocer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repositorio, proxy, sesión, historial…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Solución: HelpDeskFacade ofrece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login(), crearTicket(), avanzarEstado()…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Beneficio: bajo acoplamiento.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Por eso pudimos agregar Swing SIN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tocar la lógica de negocio.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8A317"/>
                </a:solidFill>
                <a:latin typeface="Calibri"/>
              </a:rPr>
              <a:t>Proxy — ¿por qué?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Problema: eliminar / asignar / avanzar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requieren permisos por rol.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Solución: TicketServiceProxy intercepta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antes del servicio real.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Demo clave: cliente intenta eliminar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→ “Acceso denegado”.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El servicio real NO sabe de permisos.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Cumple DIP (ITicketService).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Comportamiento: State</a:t>
            </a:r>
          </a:p>
        </p:txBody>
      </p:sp>
      <p:pic>
        <p:nvPicPr>
          <p:cNvPr id="6" name="Picture 5" descr="03-patron-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498079" cy="68683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12801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 Cada estado es una clase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 Ticket solo dice “avanza”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 Sin if/switch gigantes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 NUEVO → EN_PROCESO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 → RESUELTO → CERRADO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 OCP: nuevo estado = nueva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Comportamiento: Observer</a:t>
            </a:r>
          </a:p>
        </p:txBody>
      </p:sp>
      <p:pic>
        <p:nvPicPr>
          <p:cNvPr id="6" name="Picture 5" descr="04-patron-ob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858000" cy="5608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37160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 Ticket = sujeto observable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 Observadores: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 • Solicitante (al crear)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 • Técnico (al asignar)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 • HistorialNotificaciones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 Botón Historial en Swing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 muestra la bitácora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•  ISP: interfaces pequeñas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SOLID y GRASP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SOLID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S — Validador / Repo / Servicio / Vista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O — Factory y State extensibles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L — Cliente/Técnico/Admin = Usuario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I — IObservador, ISujeto, IEstadoTicket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D — Dependencia de ITicketService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8A317"/>
                </a:solidFill>
                <a:latin typeface="Calibri"/>
              </a:rPr>
              <a:t>GRASP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Controlador → TicketService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Creador → TicketService + Factory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Experto → Ticket / Usuario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Fabricación pura → Factory / Validador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Alta cohesión / Bajo acoplamiento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→ gracias al Facade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Demo Swing — funciones en orden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36576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1.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Singleton + roles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43000"/>
            <a:ext cx="36576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80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2. Registrar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645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Factory + 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43000"/>
            <a:ext cx="36576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280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3. Actualizar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6459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CRUD + SRP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788920"/>
            <a:ext cx="36576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2607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4. Eliminar (falla)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9183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Proxy + DIP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788920"/>
            <a:ext cx="36576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92607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5. Login técnico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29183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Cambio de 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788920"/>
            <a:ext cx="36576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92607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6. Asignar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29183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Proxy autoriza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34840"/>
            <a:ext cx="36576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7. Avanzar estado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93775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State ×3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4434840"/>
            <a:ext cx="36576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45720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8. Historial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93775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Observer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434840"/>
            <a:ext cx="36576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5720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9. Persistencia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93775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Reabrir = 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Retos adicionales (guía del curso)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Java Swing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VentanaLogin + VentanaPrincipal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Misma lógica vía HelpDeskFacade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Consola sigue disponible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(argumento “consola”)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Evidencia de bajo acoplamiento: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cambiar la interfaz no tocó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Proxy, State ni Observer.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8A317"/>
                </a:solidFill>
                <a:latin typeface="Calibri"/>
              </a:rPr>
              <a:t>Persistencia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Archivo: data/helpdesk.json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Librería: Gson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Guarda usuarios, tickets, estados,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técnicos y fechas.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Nivel guía: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Básico ArrayList ✅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Intermedio JSON ✅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Suma en Innovación (1 pt)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Usuarios de prueba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3108960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44475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371600"/>
            <a:ext cx="3108960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44475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Password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371600"/>
            <a:ext cx="3108960" cy="5029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44475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Rol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920240"/>
            <a:ext cx="3108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9933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Calibri"/>
              </a:rPr>
              <a:t>admin@helpdesk.com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920240"/>
            <a:ext cx="3108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9933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Calibri"/>
              </a:rPr>
              <a:t>admin123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920240"/>
            <a:ext cx="3108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99339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Calibri"/>
              </a:rPr>
              <a:t>ADMINISTRADOR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423160"/>
            <a:ext cx="3108960" cy="502920"/>
          </a:xfrm>
          <a:prstGeom prst="rect">
            <a:avLst/>
          </a:prstGeom>
          <a:solidFill>
            <a:srgbClr val="E8EEF3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24963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Calibri"/>
              </a:rPr>
              <a:t>ana@helpdesk.com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2423160"/>
            <a:ext cx="3108960" cy="502920"/>
          </a:xfrm>
          <a:prstGeom prst="rect">
            <a:avLst/>
          </a:prstGeom>
          <a:solidFill>
            <a:srgbClr val="E8EEF3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4963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Calibri"/>
              </a:rPr>
              <a:t>tec123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2423160"/>
            <a:ext cx="3108960" cy="502920"/>
          </a:xfrm>
          <a:prstGeom prst="rect">
            <a:avLst/>
          </a:prstGeom>
          <a:solidFill>
            <a:srgbClr val="E8EEF3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24963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Calibri"/>
              </a:rPr>
              <a:t>TÉCNICO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2926080"/>
            <a:ext cx="3108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299923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Calibri"/>
              </a:rPr>
              <a:t>luis@helpdesk.com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926080"/>
            <a:ext cx="3108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299923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Calibri"/>
              </a:rPr>
              <a:t>tec123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926080"/>
            <a:ext cx="3108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299923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Calibri"/>
              </a:rPr>
              <a:t>TÉCNICO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3429000"/>
            <a:ext cx="3108960" cy="502920"/>
          </a:xfrm>
          <a:prstGeom prst="rect">
            <a:avLst/>
          </a:prstGeom>
          <a:solidFill>
            <a:srgbClr val="E8EEF3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350215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Calibri"/>
              </a:rPr>
              <a:t>maria@ciudad.com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429000"/>
            <a:ext cx="3108960" cy="502920"/>
          </a:xfrm>
          <a:prstGeom prst="rect">
            <a:avLst/>
          </a:prstGeom>
          <a:solidFill>
            <a:srgbClr val="E8EEF3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350215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Calibri"/>
              </a:rPr>
              <a:t>cli123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3429000"/>
            <a:ext cx="3108960" cy="502920"/>
          </a:xfrm>
          <a:prstGeom prst="rect">
            <a:avLst/>
          </a:prstGeom>
          <a:solidFill>
            <a:srgbClr val="E8EEF3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350215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Calibri"/>
              </a:rPr>
              <a:t>CLIENTE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3931920"/>
            <a:ext cx="3108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7320" y="40050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Calibri"/>
              </a:rPr>
              <a:t>pedro@ciudad.com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3931920"/>
            <a:ext cx="3108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40050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Calibri"/>
              </a:rPr>
              <a:t>cli123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3931920"/>
            <a:ext cx="31089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40050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1C1C1C"/>
                </a:solidFill>
                <a:latin typeface="Calibri"/>
              </a:rPr>
              <a:t>CLIENTE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Cumplimiento de la rúbrica (20 pts)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47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Aplicación de patrones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23443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6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23443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6 GOF coherentes e integrados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11247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Principios SOLID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920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3 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20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S O L I D con evidencia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68880"/>
            <a:ext cx="11247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06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Patrones GRASP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606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2 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06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Controlador, Experto, cohesión…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54680"/>
            <a:ext cx="11247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Arquitectura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2918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3 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291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MVC + paquetes + escalable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11247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Funcionamiento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9776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3 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776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CRUD + validaciones + flujos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26280"/>
            <a:ext cx="11247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63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Sustentación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6634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2 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663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Video + explicación técnica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212080"/>
            <a:ext cx="112471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49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Innovación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3492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7A7A"/>
                </a:solidFill>
                <a:latin typeface="Calibri"/>
              </a:rPr>
              <a:t>1 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3492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Swing + 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Exposición en video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94183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148840"/>
            <a:ext cx="9052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8A317"/>
                </a:solidFill>
                <a:latin typeface="Calibri"/>
              </a:rPr>
              <a:t>IMPORTANTE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514600"/>
            <a:ext cx="9052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Video de la sustentación del proyecto (15 minutos):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https://www.youtube.com/watch?v=X0vSXpbGX94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Incluye demo en vivo de la interfaz Swing,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1C1C"/>
                </a:solidFill>
                <a:latin typeface="Calibri"/>
              </a:rPr>
              <a:t>explicación de patrones y cumplimiento de rúbrica.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Calibri"/>
              </a:rPr>
              <a:t>SmartCity Solutions — Mesa de Ayuda  |  Diseño de Patrones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55555"/>
                </a:solidFill>
                <a:latin typeface="Calibri"/>
              </a:rP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No elegimos patrones “por rellenar”.</a:t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>Cada uno resuelve un problema real del dominio:</a:t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>sesión única, tipos de ticket, permisos, ciclo de vida y notificaciones.</a:t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/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>Swing + JSON demuestran que el diseño está listo para crecer.</a:t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/>
            </a:r>
          </a:p>
          <a:p>
            <a:r>
              <a:rPr sz="1800" b="0">
                <a:solidFill>
                  <a:srgbClr val="FFFFFF"/>
                </a:solidFill>
                <a:latin typeface="Calibri"/>
              </a:rPr>
              <a:t>¡Gracias!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